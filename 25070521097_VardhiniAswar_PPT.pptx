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13232" y="804672"/>
            <a:ext cx="109728" cy="2926080"/>
          </a:xfrm>
          <a:prstGeom prst="rect">
            <a:avLst/>
          </a:prstGeom>
          <a:solidFill>
            <a:srgbClr val="52DA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841248"/>
            <a:ext cx="612648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100" b="1">
                <a:solidFill>
                  <a:srgbClr val="52DAE0"/>
                </a:solidFill>
                <a:latin typeface="Aptos"/>
              </a:defRPr>
            </a:pPr>
            <a:r>
              <a:t>DATA STRUCTURES &amp;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621792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MERGE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6217920" cy="7315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SORT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971800"/>
            <a:ext cx="667512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2100" b="1">
                <a:solidFill>
                  <a:srgbClr val="66DCAF"/>
                </a:solidFill>
                <a:latin typeface="Aptos"/>
              </a:defRPr>
            </a:pPr>
            <a:r>
              <a:t>Divide  •  Conquer  •  Merge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584448"/>
            <a:ext cx="6217920" cy="7772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700" b="0">
                <a:solidFill>
                  <a:srgbClr val="C5D6F0"/>
                </a:solidFill>
                <a:latin typeface="Aptos"/>
              </a:defRPr>
            </a:pPr>
            <a:r>
              <a:t>A simple explanation of the algorithm</a:t>
            </a:r>
            <a:br/>
            <a:r>
              <a:t>and its implementation in 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051560"/>
            <a:ext cx="3246120" cy="658368"/>
          </a:xfrm>
          <a:prstGeom prst="roundRect">
            <a:avLst/>
          </a:prstGeom>
          <a:solidFill>
            <a:srgbClr val="17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73568" y="1207008"/>
            <a:ext cx="31089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[ 3   7   4   1 ]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240280"/>
            <a:ext cx="1325880" cy="530352"/>
          </a:xfrm>
          <a:prstGeom prst="roundRect">
            <a:avLst/>
          </a:prstGeom>
          <a:solidFill>
            <a:srgbClr val="35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2359152"/>
            <a:ext cx="12344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[ 3   7 ]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2240280"/>
            <a:ext cx="1325880" cy="530352"/>
          </a:xfrm>
          <a:prstGeom prst="roundRect">
            <a:avLst/>
          </a:prstGeom>
          <a:solidFill>
            <a:srgbClr val="356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92640" y="2359152"/>
            <a:ext cx="1234440" cy="22860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[ 4   1 ]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8759952" y="1719072"/>
            <a:ext cx="768096" cy="521208"/>
          </a:xfrm>
          <a:prstGeom prst="line">
            <a:avLst/>
          </a:prstGeom>
          <a:ln w="25400">
            <a:solidFill>
              <a:srgbClr val="52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528048" y="1719072"/>
            <a:ext cx="777240" cy="521208"/>
          </a:xfrm>
          <a:prstGeom prst="line">
            <a:avLst/>
          </a:prstGeom>
          <a:ln w="25400">
            <a:solidFill>
              <a:srgbClr val="52DA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366760" y="3337560"/>
            <a:ext cx="2697480" cy="658368"/>
          </a:xfrm>
          <a:prstGeom prst="roundRect">
            <a:avLst/>
          </a:prstGeom>
          <a:solidFill>
            <a:srgbClr val="1E7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3502152"/>
            <a:ext cx="256032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[ 1   3   4   7 ]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759952" y="2770632"/>
            <a:ext cx="384048" cy="566928"/>
          </a:xfrm>
          <a:prstGeom prst="line">
            <a:avLst/>
          </a:prstGeom>
          <a:ln w="25400">
            <a:solidFill>
              <a:srgbClr val="66D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10241280" y="2770632"/>
            <a:ext cx="64008" cy="566928"/>
          </a:xfrm>
          <a:prstGeom prst="line">
            <a:avLst/>
          </a:prstGeom>
          <a:ln w="25400">
            <a:solidFill>
              <a:srgbClr val="66DC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406640" y="4251960"/>
            <a:ext cx="4251960" cy="411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defRPr sz="1000" b="1">
                <a:solidFill>
                  <a:srgbClr val="C5D6F0"/>
                </a:solidFill>
                <a:latin typeface="Aptos"/>
              </a:defRPr>
            </a:pPr>
            <a:r>
              <a:t>SPLIT INTO SMALLER PARTS  →  JOIN IN ORDER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892040"/>
            <a:ext cx="5943600" cy="960120"/>
          </a:xfrm>
          <a:prstGeom prst="roundRect">
            <a:avLst/>
          </a:prstGeom>
          <a:solidFill>
            <a:srgbClr val="17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98448" y="5047488"/>
            <a:ext cx="16459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900" b="1">
                <a:solidFill>
                  <a:srgbClr val="52DAE0"/>
                </a:solidFill>
                <a:latin typeface="Aptos"/>
              </a:defRPr>
            </a:pPr>
            <a:r>
              <a:t>PRESENTED BY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5285232"/>
            <a:ext cx="2834640" cy="32004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ptos"/>
              </a:defRPr>
            </a:pPr>
            <a:r>
              <a:t>Vardhini Aswar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5321808"/>
            <a:ext cx="2423160" cy="2743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300" b="1">
                <a:solidFill>
                  <a:srgbClr val="C5D6F0"/>
                </a:solidFill>
                <a:latin typeface="Aptos"/>
              </a:defRPr>
            </a:pPr>
            <a:r>
              <a:t>PRN  25070521097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6199632"/>
            <a:ext cx="530352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900" b="1">
                <a:solidFill>
                  <a:srgbClr val="C5D6F0"/>
                </a:solidFill>
                <a:latin typeface="Aptos"/>
              </a:defRPr>
            </a:pPr>
            <a:r>
              <a:t>MERGE SORT  •  C PROGRAMMING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199632"/>
            <a:ext cx="411480" cy="20116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r">
              <a:defRPr sz="900" b="1">
                <a:solidFill>
                  <a:srgbClr val="C5D6F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06640" y="5147945"/>
            <a:ext cx="4617720" cy="566928"/>
          </a:xfrm>
          <a:prstGeom prst="roundRect">
            <a:avLst/>
          </a:prstGeom>
          <a:solidFill>
            <a:srgbClr val="173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6533" y="5316728"/>
            <a:ext cx="42976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 algn="ctr">
              <a:defRPr sz="1300" b="1">
                <a:solidFill>
                  <a:srgbClr val="52DAE0"/>
                </a:solidFill>
                <a:latin typeface="Aptos"/>
              </a:defRPr>
            </a:pPr>
            <a:r>
              <a:t>Generated using ChatGPT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12346"/>
                </a:solidFill>
                <a:latin typeface="Aptos"/>
              </a:defRPr>
            </a:pPr>
            <a:r>
              <a:t>1. What is Merge Sort?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346FD2"/>
                </a:solidFill>
                <a:latin typeface="Aptos"/>
              </a:defRPr>
            </a:pPr>
            <a:r>
              <a:t>A sorting method that breaks a big problem into smaller 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29184"/>
            <a:ext cx="411480" cy="365760"/>
          </a:xfrm>
          <a:prstGeom prst="roundRect">
            <a:avLst/>
          </a:prstGeom>
          <a:solidFill>
            <a:srgbClr val="346FD2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74904"/>
            <a:ext cx="411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7778E"/>
                </a:solidFill>
                <a:latin typeface="Aptos"/>
              </a:defRPr>
            </a:pPr>
            <a:r>
              <a:t>MERGE SORT  •  DATA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7778E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17320"/>
            <a:ext cx="1042416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2200" b="1">
                <a:solidFill>
                  <a:srgbClr val="2A3546"/>
                </a:solidFill>
                <a:latin typeface="Aptos"/>
              </a:defRPr>
            </a:pPr>
            <a:r>
              <a:t>Merge Sort arranges numbers from smallest to largest.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240280"/>
            <a:ext cx="3383280" cy="2011680"/>
          </a:xfrm>
          <a:prstGeom prst="roundRect">
            <a:avLst/>
          </a:prstGeom>
          <a:solidFill>
            <a:srgbClr val="F1F6FD"/>
          </a:solidFill>
          <a:ln>
            <a:solidFill>
              <a:srgbClr val="F1F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240280"/>
            <a:ext cx="82296" cy="2011680"/>
          </a:xfrm>
          <a:prstGeom prst="rect">
            <a:avLst/>
          </a:prstGeom>
          <a:solidFill>
            <a:srgbClr val="346FD2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6" y="2395728"/>
            <a:ext cx="299923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12346"/>
                </a:solidFill>
                <a:latin typeface="Aptos"/>
              </a:defRPr>
            </a:pPr>
            <a:r>
              <a:t>DIVIDE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" y="2807208"/>
            <a:ext cx="2999232" cy="131673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3546"/>
                </a:solidFill>
                <a:latin typeface="Aptos"/>
              </a:defRPr>
            </a:pPr>
            <a:r>
              <a:t>Split the array into two smaller parts.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240280"/>
            <a:ext cx="3383280" cy="2011680"/>
          </a:xfrm>
          <a:prstGeom prst="roundRect">
            <a:avLst/>
          </a:prstGeom>
          <a:solidFill>
            <a:srgbClr val="EBF8F1"/>
          </a:solidFill>
          <a:ln>
            <a:solidFill>
              <a:srgbClr val="E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240280"/>
            <a:ext cx="82296" cy="2011680"/>
          </a:xfrm>
          <a:prstGeom prst="rect">
            <a:avLst/>
          </a:prstGeom>
          <a:solidFill>
            <a:srgbClr val="43A67D"/>
          </a:solidFill>
          <a:ln>
            <a:solidFill>
              <a:srgbClr val="43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2395728"/>
            <a:ext cx="299923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12346"/>
                </a:solidFill>
                <a:latin typeface="Aptos"/>
              </a:defRPr>
            </a:pPr>
            <a:r>
              <a:t>SORT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807208"/>
            <a:ext cx="2999232" cy="131673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3546"/>
                </a:solidFill>
                <a:latin typeface="Aptos"/>
              </a:defRPr>
            </a:pPr>
            <a:r>
              <a:t>Keep dividing until each part has one number.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2240280"/>
            <a:ext cx="3383280" cy="2011680"/>
          </a:xfrm>
          <a:prstGeom prst="roundRect">
            <a:avLst/>
          </a:prstGeom>
          <a:solidFill>
            <a:srgbClr val="FFF6E8"/>
          </a:solidFill>
          <a:ln>
            <a:solidFill>
              <a:srgbClr val="FFF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2240280"/>
            <a:ext cx="82296" cy="2011680"/>
          </a:xfrm>
          <a:prstGeom prst="rect">
            <a:avLst/>
          </a:prstGeom>
          <a:solidFill>
            <a:srgbClr val="DD913F"/>
          </a:solidFill>
          <a:ln>
            <a:solidFill>
              <a:srgbClr val="DD9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4736" y="2395728"/>
            <a:ext cx="299923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12346"/>
                </a:solidFill>
                <a:latin typeface="Aptos"/>
              </a:defRPr>
            </a:pPr>
            <a:r>
              <a:t>MERGE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2807208"/>
            <a:ext cx="2999232" cy="131673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3546"/>
                </a:solidFill>
                <a:latin typeface="Aptos"/>
              </a:defRPr>
            </a:pPr>
            <a:r>
              <a:t>Join the parts in the correct order.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92040"/>
            <a:ext cx="10149840" cy="5943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700" b="0">
                <a:solidFill>
                  <a:srgbClr val="67778E"/>
                </a:solidFill>
                <a:latin typeface="Aptos"/>
              </a:defRPr>
            </a:pPr>
            <a:r>
              <a:t>Think of it as sorting a pile of numbers in small groups, then joining the groups neatly.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510528"/>
            <a:ext cx="54864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7778E"/>
                </a:solidFill>
                <a:latin typeface="Aptos"/>
              </a:defRPr>
            </a:pPr>
            <a:r>
              <a:t>MERGE SORT  •  DATA STRUCTURES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7778E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12346"/>
                </a:solidFill>
                <a:latin typeface="Aptos"/>
              </a:defRPr>
            </a:pPr>
            <a:r>
              <a:t>2. Divide and Conquer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346FD2"/>
                </a:solidFill>
                <a:latin typeface="Aptos"/>
              </a:defRPr>
            </a:pPr>
            <a:r>
              <a:t>The algorithm follows three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29184"/>
            <a:ext cx="411480" cy="365760"/>
          </a:xfrm>
          <a:prstGeom prst="roundRect">
            <a:avLst/>
          </a:prstGeom>
          <a:solidFill>
            <a:srgbClr val="346FD2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74904"/>
            <a:ext cx="411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7778E"/>
                </a:solidFill>
                <a:latin typeface="Aptos"/>
              </a:defRPr>
            </a:pPr>
            <a:r>
              <a:t>MERGE SORT  •  DATA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7778E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08760"/>
            <a:ext cx="3383280" cy="3200400"/>
          </a:xfrm>
          <a:prstGeom prst="roundRect">
            <a:avLst/>
          </a:prstGeom>
          <a:solidFill>
            <a:srgbClr val="F1F6FD"/>
          </a:solidFill>
          <a:ln>
            <a:solidFill>
              <a:srgbClr val="F1F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508760"/>
            <a:ext cx="82296" cy="3200400"/>
          </a:xfrm>
          <a:prstGeom prst="rect">
            <a:avLst/>
          </a:prstGeom>
          <a:solidFill>
            <a:srgbClr val="346FD2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1664207"/>
            <a:ext cx="299923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1. DIVIDE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2075688"/>
            <a:ext cx="2999232" cy="2505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A3546"/>
                </a:solidFill>
                <a:latin typeface="Aptos"/>
              </a:defRPr>
            </a:pPr>
            <a:r>
              <a:t>Break the array into halves.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A3546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600" b="0">
                <a:solidFill>
                  <a:srgbClr val="2A3546"/>
                </a:solidFill>
                <a:latin typeface="Aptos"/>
              </a:defRPr>
            </a:pPr>
            <a:r>
              <a:t>Example: [3, 7, 4, 1, 5] becomes [3, 7] and [4, 1, 5].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08760"/>
            <a:ext cx="3383280" cy="3200400"/>
          </a:xfrm>
          <a:prstGeom prst="roundRect">
            <a:avLst/>
          </a:prstGeom>
          <a:solidFill>
            <a:srgbClr val="EBF8F1"/>
          </a:solidFill>
          <a:ln>
            <a:solidFill>
              <a:srgbClr val="E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08760"/>
            <a:ext cx="82296" cy="3200400"/>
          </a:xfrm>
          <a:prstGeom prst="rect">
            <a:avLst/>
          </a:prstGeom>
          <a:solidFill>
            <a:srgbClr val="43A67D"/>
          </a:solidFill>
          <a:ln>
            <a:solidFill>
              <a:srgbClr val="43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664207"/>
            <a:ext cx="299923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2. CONQUER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075688"/>
            <a:ext cx="2999232" cy="2505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A3546"/>
                </a:solidFill>
                <a:latin typeface="Aptos"/>
              </a:defRPr>
            </a:pPr>
            <a:r>
              <a:t>Sort each half by repeating the same process.</a:t>
            </a:r>
          </a:p>
          <a:p>
            <a:pPr algn="l">
              <a:spcAft>
                <a:spcPts val="500"/>
              </a:spcAft>
              <a:defRPr sz="1600" b="0">
                <a:solidFill>
                  <a:srgbClr val="2A3546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600" b="0">
                <a:solidFill>
                  <a:srgbClr val="2A3546"/>
                </a:solidFill>
                <a:latin typeface="Aptos"/>
              </a:defRPr>
            </a:pPr>
            <a:r>
              <a:t>A single-element part is already sorted.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508760"/>
            <a:ext cx="3383280" cy="3200400"/>
          </a:xfrm>
          <a:prstGeom prst="roundRect">
            <a:avLst/>
          </a:prstGeom>
          <a:solidFill>
            <a:srgbClr val="FFF6E8"/>
          </a:solidFill>
          <a:ln>
            <a:solidFill>
              <a:srgbClr val="FFF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508760"/>
            <a:ext cx="82296" cy="3200400"/>
          </a:xfrm>
          <a:prstGeom prst="rect">
            <a:avLst/>
          </a:prstGeom>
          <a:solidFill>
            <a:srgbClr val="DD913F"/>
          </a:solidFill>
          <a:ln>
            <a:solidFill>
              <a:srgbClr val="DD9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664207"/>
            <a:ext cx="299923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3. MERGE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2075688"/>
            <a:ext cx="2999232" cy="25054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A3546"/>
                </a:solidFill>
                <a:latin typeface="Aptos"/>
              </a:defRPr>
            </a:pPr>
            <a:r>
              <a:t>Compare the smallest unused values and copy the smaller one first.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346FD2"/>
                </a:solidFill>
                <a:latin typeface="Aptos"/>
              </a:defRPr>
            </a:pPr>
            <a:r>
              <a:t>Easy memory trick: Split → Sort → Join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510528"/>
            <a:ext cx="54864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7778E"/>
                </a:solidFill>
                <a:latin typeface="Aptos"/>
              </a:defRPr>
            </a:pPr>
            <a:r>
              <a:t>MERGE SORT  •  DATA STRUCTURES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7778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12346"/>
                </a:solidFill>
                <a:latin typeface="Aptos"/>
              </a:defRPr>
            </a:pPr>
            <a:r>
              <a:t>3. Example: Divide the 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346FD2"/>
                </a:solidFill>
                <a:latin typeface="Aptos"/>
              </a:defRPr>
            </a:pPr>
            <a:r>
              <a:t>Input: [3, 7, 4, 1, 5]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29184"/>
            <a:ext cx="411480" cy="365760"/>
          </a:xfrm>
          <a:prstGeom prst="roundRect">
            <a:avLst/>
          </a:prstGeom>
          <a:solidFill>
            <a:srgbClr val="346FD2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74904"/>
            <a:ext cx="411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7778E"/>
                </a:solidFill>
                <a:latin typeface="Aptos"/>
              </a:defRPr>
            </a:pPr>
            <a:r>
              <a:t>MERGE SORT  •  DATA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7778E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508760"/>
            <a:ext cx="685800" cy="530352"/>
          </a:xfrm>
          <a:prstGeom prst="roundRect">
            <a:avLst/>
          </a:prstGeom>
          <a:solidFill>
            <a:srgbClr val="F1F6FD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80" y="1591056"/>
            <a:ext cx="685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64608" y="1508760"/>
            <a:ext cx="685800" cy="530352"/>
          </a:xfrm>
          <a:prstGeom prst="roundRect">
            <a:avLst/>
          </a:prstGeom>
          <a:solidFill>
            <a:srgbClr val="F1F6FD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64608" y="1591056"/>
            <a:ext cx="685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0136" y="1508760"/>
            <a:ext cx="685800" cy="530352"/>
          </a:xfrm>
          <a:prstGeom prst="roundRect">
            <a:avLst/>
          </a:prstGeom>
          <a:solidFill>
            <a:srgbClr val="F1F6FD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0136" y="1591056"/>
            <a:ext cx="685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55664" y="1508760"/>
            <a:ext cx="685800" cy="530352"/>
          </a:xfrm>
          <a:prstGeom prst="roundRect">
            <a:avLst/>
          </a:prstGeom>
          <a:solidFill>
            <a:srgbClr val="F1F6FD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591056"/>
            <a:ext cx="685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51192" y="1508760"/>
            <a:ext cx="685800" cy="530352"/>
          </a:xfrm>
          <a:prstGeom prst="roundRect">
            <a:avLst/>
          </a:prstGeom>
          <a:solidFill>
            <a:srgbClr val="F1F6FD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1192" y="1591056"/>
            <a:ext cx="685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240280"/>
            <a:ext cx="46634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346FD2"/>
                </a:solidFill>
                <a:latin typeface="Aptos"/>
              </a:defRPr>
            </a:pPr>
            <a:r>
              <a:t>Split into two parts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2788920"/>
            <a:ext cx="685800" cy="530352"/>
          </a:xfrm>
          <a:prstGeom prst="roundRect">
            <a:avLst/>
          </a:prstGeom>
          <a:solidFill>
            <a:srgbClr val="EBF8F1"/>
          </a:solidFill>
          <a:ln>
            <a:solidFill>
              <a:srgbClr val="43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2871215"/>
            <a:ext cx="685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50208" y="2788920"/>
            <a:ext cx="685800" cy="530352"/>
          </a:xfrm>
          <a:prstGeom prst="roundRect">
            <a:avLst/>
          </a:prstGeom>
          <a:solidFill>
            <a:srgbClr val="EBF8F1"/>
          </a:solidFill>
          <a:ln>
            <a:solidFill>
              <a:srgbClr val="43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0208" y="2871215"/>
            <a:ext cx="685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77840" y="2788920"/>
            <a:ext cx="685800" cy="530352"/>
          </a:xfrm>
          <a:prstGeom prst="roundRect">
            <a:avLst/>
          </a:prstGeom>
          <a:solidFill>
            <a:srgbClr val="FFF6E8"/>
          </a:solidFill>
          <a:ln>
            <a:solidFill>
              <a:srgbClr val="DD9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2871215"/>
            <a:ext cx="685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73368" y="2788920"/>
            <a:ext cx="685800" cy="530352"/>
          </a:xfrm>
          <a:prstGeom prst="roundRect">
            <a:avLst/>
          </a:prstGeom>
          <a:solidFill>
            <a:srgbClr val="FFF6E8"/>
          </a:solidFill>
          <a:ln>
            <a:solidFill>
              <a:srgbClr val="DD9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2871215"/>
            <a:ext cx="685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68896" y="2788920"/>
            <a:ext cx="685800" cy="530352"/>
          </a:xfrm>
          <a:prstGeom prst="roundRect">
            <a:avLst/>
          </a:prstGeom>
          <a:solidFill>
            <a:srgbClr val="FFF6E8"/>
          </a:solidFill>
          <a:ln>
            <a:solidFill>
              <a:srgbClr val="DD9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68896" y="2871215"/>
            <a:ext cx="685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886200"/>
            <a:ext cx="1033272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900" b="0">
                <a:solidFill>
                  <a:srgbClr val="2A3546"/>
                </a:solidFill>
                <a:latin typeface="Aptos"/>
              </a:defRPr>
            </a:pPr>
            <a:r>
              <a:t>Keep splitting until each group has one number.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69080" y="4709160"/>
            <a:ext cx="685800" cy="530352"/>
          </a:xfrm>
          <a:prstGeom prst="roundRect">
            <a:avLst/>
          </a:prstGeom>
          <a:solidFill>
            <a:srgbClr val="F1F6FD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9080" y="4791456"/>
            <a:ext cx="685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64608" y="4709160"/>
            <a:ext cx="685800" cy="530352"/>
          </a:xfrm>
          <a:prstGeom prst="roundRect">
            <a:avLst/>
          </a:prstGeom>
          <a:solidFill>
            <a:srgbClr val="F1F6FD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64608" y="4791456"/>
            <a:ext cx="685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0136" y="4709160"/>
            <a:ext cx="685800" cy="530352"/>
          </a:xfrm>
          <a:prstGeom prst="roundRect">
            <a:avLst/>
          </a:prstGeom>
          <a:solidFill>
            <a:srgbClr val="F1F6FD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0136" y="4791456"/>
            <a:ext cx="685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55664" y="4709160"/>
            <a:ext cx="685800" cy="530352"/>
          </a:xfrm>
          <a:prstGeom prst="roundRect">
            <a:avLst/>
          </a:prstGeom>
          <a:solidFill>
            <a:srgbClr val="F1F6FD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55664" y="4791456"/>
            <a:ext cx="685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51192" y="4709160"/>
            <a:ext cx="685800" cy="530352"/>
          </a:xfrm>
          <a:prstGeom prst="roundRect">
            <a:avLst/>
          </a:prstGeom>
          <a:solidFill>
            <a:srgbClr val="F1F6FD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51192" y="4791456"/>
            <a:ext cx="685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5486400"/>
            <a:ext cx="8503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67778E"/>
                </a:solidFill>
                <a:latin typeface="Aptos"/>
              </a:defRPr>
            </a:pPr>
            <a:r>
              <a:t>Single-element groups are the stopping point.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510528"/>
            <a:ext cx="54864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7778E"/>
                </a:solidFill>
                <a:latin typeface="Aptos"/>
              </a:defRPr>
            </a:pPr>
            <a:r>
              <a:t>MERGE SORT  •  DATA STRUCTURES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7778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12346"/>
                </a:solidFill>
                <a:latin typeface="Aptos"/>
              </a:defRPr>
            </a:pPr>
            <a:r>
              <a:t>4. Example: Merge the Parts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346FD2"/>
                </a:solidFill>
                <a:latin typeface="Aptos"/>
              </a:defRPr>
            </a:pPr>
            <a:r>
              <a:t>Compare the first unused number in each sorted group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29184"/>
            <a:ext cx="411480" cy="365760"/>
          </a:xfrm>
          <a:prstGeom prst="roundRect">
            <a:avLst/>
          </a:prstGeom>
          <a:solidFill>
            <a:srgbClr val="346FD2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74904"/>
            <a:ext cx="411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7778E"/>
                </a:solidFill>
                <a:latin typeface="Aptos"/>
              </a:defRPr>
            </a:pPr>
            <a:r>
              <a:t>MERGE SORT  •  DATA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7778E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182880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346FD2"/>
                </a:solidFill>
                <a:latin typeface="Aptos"/>
              </a:defRPr>
            </a:pPr>
            <a:r>
              <a:t>Sorted groups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4440" y="1828800"/>
            <a:ext cx="777240" cy="530352"/>
          </a:xfrm>
          <a:prstGeom prst="roundRect">
            <a:avLst/>
          </a:prstGeom>
          <a:solidFill>
            <a:srgbClr val="F1F6FD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1911095"/>
            <a:ext cx="7772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21408" y="1828800"/>
            <a:ext cx="777240" cy="530352"/>
          </a:xfrm>
          <a:prstGeom prst="roundRect">
            <a:avLst/>
          </a:prstGeom>
          <a:solidFill>
            <a:srgbClr val="F1F6FD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21408" y="1911095"/>
            <a:ext cx="7772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1901952"/>
            <a:ext cx="548640" cy="2743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67778E"/>
                </a:solidFill>
                <a:latin typeface="Aptos"/>
              </a:defRPr>
            </a:pPr>
            <a:r>
              <a:t>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1828800"/>
            <a:ext cx="777240" cy="530352"/>
          </a:xfrm>
          <a:prstGeom prst="roundRect">
            <a:avLst/>
          </a:prstGeom>
          <a:solidFill>
            <a:srgbClr val="EBF8F1"/>
          </a:solidFill>
          <a:ln>
            <a:solidFill>
              <a:srgbClr val="43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1911095"/>
            <a:ext cx="7772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73168" y="1828800"/>
            <a:ext cx="777240" cy="530352"/>
          </a:xfrm>
          <a:prstGeom prst="roundRect">
            <a:avLst/>
          </a:prstGeom>
          <a:solidFill>
            <a:srgbClr val="EBF8F1"/>
          </a:solidFill>
          <a:ln>
            <a:solidFill>
              <a:srgbClr val="43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73168" y="1911095"/>
            <a:ext cx="7772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0136" y="1828800"/>
            <a:ext cx="777240" cy="530352"/>
          </a:xfrm>
          <a:prstGeom prst="roundRect">
            <a:avLst/>
          </a:prstGeom>
          <a:solidFill>
            <a:srgbClr val="EBF8F1"/>
          </a:solidFill>
          <a:ln>
            <a:solidFill>
              <a:srgbClr val="43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0136" y="1911095"/>
            <a:ext cx="7772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1508760"/>
            <a:ext cx="3886200" cy="1234440"/>
          </a:xfrm>
          <a:prstGeom prst="roundRect">
            <a:avLst/>
          </a:prstGeom>
          <a:solidFill>
            <a:srgbClr val="FFF6E8"/>
          </a:solidFill>
          <a:ln>
            <a:solidFill>
              <a:srgbClr val="FFF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0" y="1508760"/>
            <a:ext cx="82296" cy="1234440"/>
          </a:xfrm>
          <a:prstGeom prst="rect">
            <a:avLst/>
          </a:prstGeom>
          <a:solidFill>
            <a:srgbClr val="DD913F"/>
          </a:solidFill>
          <a:ln>
            <a:solidFill>
              <a:srgbClr val="DD9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34656" y="1664207"/>
            <a:ext cx="350215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12346"/>
                </a:solidFill>
                <a:latin typeface="Aptos"/>
              </a:defRPr>
            </a:pPr>
            <a:r>
              <a:t>Compare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4656" y="2075688"/>
            <a:ext cx="3502152" cy="5394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A3546"/>
                </a:solidFill>
                <a:latin typeface="Aptos"/>
              </a:defRPr>
            </a:pPr>
            <a:r>
              <a:t>First: 3 vs 1 → take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154680"/>
            <a:ext cx="4937760" cy="1234440"/>
          </a:xfrm>
          <a:prstGeom prst="roundRect">
            <a:avLst/>
          </a:prstGeom>
          <a:solidFill>
            <a:srgbClr val="F1F6FD"/>
          </a:solidFill>
          <a:ln>
            <a:solidFill>
              <a:srgbClr val="F1F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" y="3154680"/>
            <a:ext cx="82296" cy="1234440"/>
          </a:xfrm>
          <a:prstGeom prst="rect">
            <a:avLst/>
          </a:prstGeom>
          <a:solidFill>
            <a:srgbClr val="346FD2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33856" y="3310128"/>
            <a:ext cx="455371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12346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" y="3721608"/>
            <a:ext cx="4553712" cy="5394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A3546"/>
                </a:solidFill>
                <a:latin typeface="Aptos"/>
              </a:defRPr>
            </a:pPr>
            <a:r>
              <a:t>Compare 3 vs 4 → take 3, then take 4.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3154680"/>
            <a:ext cx="4937760" cy="1234440"/>
          </a:xfrm>
          <a:prstGeom prst="roundRect">
            <a:avLst/>
          </a:prstGeom>
          <a:solidFill>
            <a:srgbClr val="EBF8F1"/>
          </a:solidFill>
          <a:ln>
            <a:solidFill>
              <a:srgbClr val="E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3154680"/>
            <a:ext cx="82296" cy="1234440"/>
          </a:xfrm>
          <a:prstGeom prst="rect">
            <a:avLst/>
          </a:prstGeom>
          <a:solidFill>
            <a:srgbClr val="43A67D"/>
          </a:solidFill>
          <a:ln>
            <a:solidFill>
              <a:srgbClr val="43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3310128"/>
            <a:ext cx="455371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12346"/>
                </a:solidFill>
                <a:latin typeface="Aptos"/>
              </a:defRPr>
            </a:pPr>
            <a:r>
              <a:t>Finish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3721608"/>
            <a:ext cx="4553712" cy="5394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2A3546"/>
                </a:solidFill>
                <a:latin typeface="Aptos"/>
              </a:defRPr>
            </a:pPr>
            <a:r>
              <a:t>Take the remaining 5 and 7.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892040"/>
            <a:ext cx="103327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346FD2"/>
                </a:solidFill>
                <a:latin typeface="Aptos"/>
              </a:defRPr>
            </a:pPr>
            <a:r>
              <a:t>Final sorted array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86200" y="5349240"/>
            <a:ext cx="777240" cy="530352"/>
          </a:xfrm>
          <a:prstGeom prst="roundRect">
            <a:avLst/>
          </a:prstGeom>
          <a:solidFill>
            <a:srgbClr val="EBF8F1"/>
          </a:solidFill>
          <a:ln>
            <a:solidFill>
              <a:srgbClr val="43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86200" y="5431536"/>
            <a:ext cx="7772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73168" y="5349240"/>
            <a:ext cx="777240" cy="530352"/>
          </a:xfrm>
          <a:prstGeom prst="roundRect">
            <a:avLst/>
          </a:prstGeom>
          <a:solidFill>
            <a:srgbClr val="EBF8F1"/>
          </a:solidFill>
          <a:ln>
            <a:solidFill>
              <a:srgbClr val="43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73168" y="5431536"/>
            <a:ext cx="7772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0136" y="5349240"/>
            <a:ext cx="777240" cy="530352"/>
          </a:xfrm>
          <a:prstGeom prst="roundRect">
            <a:avLst/>
          </a:prstGeom>
          <a:solidFill>
            <a:srgbClr val="EBF8F1"/>
          </a:solidFill>
          <a:ln>
            <a:solidFill>
              <a:srgbClr val="43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0136" y="5431536"/>
            <a:ext cx="7772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47104" y="5349240"/>
            <a:ext cx="777240" cy="530352"/>
          </a:xfrm>
          <a:prstGeom prst="roundRect">
            <a:avLst/>
          </a:prstGeom>
          <a:solidFill>
            <a:srgbClr val="EBF8F1"/>
          </a:solidFill>
          <a:ln>
            <a:solidFill>
              <a:srgbClr val="43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47104" y="5431536"/>
            <a:ext cx="7772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434071" y="5349240"/>
            <a:ext cx="777240" cy="530352"/>
          </a:xfrm>
          <a:prstGeom prst="roundRect">
            <a:avLst/>
          </a:prstGeom>
          <a:solidFill>
            <a:srgbClr val="EBF8F1"/>
          </a:solidFill>
          <a:ln>
            <a:solidFill>
              <a:srgbClr val="43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34071" y="5431536"/>
            <a:ext cx="77724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510528"/>
            <a:ext cx="54864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7778E"/>
                </a:solidFill>
                <a:latin typeface="Aptos"/>
              </a:defRPr>
            </a:pPr>
            <a:r>
              <a:t>MERGE SORT  •  DATA STRUCTURES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7778E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12346"/>
                </a:solidFill>
                <a:latin typeface="Aptos"/>
              </a:defRPr>
            </a:pPr>
            <a:r>
              <a:t>5. How the Algorithm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346FD2"/>
                </a:solidFill>
                <a:latin typeface="Aptos"/>
              </a:defRPr>
            </a:pPr>
            <a:r>
              <a:t>Two functions work together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29184"/>
            <a:ext cx="411480" cy="365760"/>
          </a:xfrm>
          <a:prstGeom prst="roundRect">
            <a:avLst/>
          </a:prstGeom>
          <a:solidFill>
            <a:srgbClr val="346FD2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74904"/>
            <a:ext cx="411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7778E"/>
                </a:solidFill>
                <a:latin typeface="Aptos"/>
              </a:defRPr>
            </a:pPr>
            <a:r>
              <a:t>MERGE SORT  •  DATA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7778E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17320"/>
            <a:ext cx="5166360" cy="4251960"/>
          </a:xfrm>
          <a:prstGeom prst="roundRect">
            <a:avLst/>
          </a:prstGeom>
          <a:solidFill>
            <a:srgbClr val="F1F6FD"/>
          </a:solidFill>
          <a:ln>
            <a:solidFill>
              <a:srgbClr val="F1F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417320"/>
            <a:ext cx="82296" cy="4251960"/>
          </a:xfrm>
          <a:prstGeom prst="rect">
            <a:avLst/>
          </a:prstGeom>
          <a:solidFill>
            <a:srgbClr val="346FD2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1572768"/>
            <a:ext cx="478231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mergeSort(arr, l, 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1984248"/>
            <a:ext cx="4782312" cy="3557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A3546"/>
                </a:solidFill>
                <a:latin typeface="Aptos"/>
              </a:defRPr>
            </a:pPr>
            <a:r>
              <a:t>1. Check whether l &lt; r.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A3546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2A3546"/>
                </a:solidFill>
                <a:latin typeface="Aptos"/>
              </a:defRPr>
            </a:pPr>
            <a:r>
              <a:t>2. Find the middle index m.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A3546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2A3546"/>
                </a:solidFill>
                <a:latin typeface="Aptos"/>
              </a:defRPr>
            </a:pPr>
            <a:r>
              <a:t>3. Sort the left half: mergeSort(arr, l, m).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A3546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2A3546"/>
                </a:solidFill>
                <a:latin typeface="Aptos"/>
              </a:defRPr>
            </a:pPr>
            <a:r>
              <a:t>4. Sort the right half: mergeSort(arr, m+1, r).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A3546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2A3546"/>
                </a:solidFill>
                <a:latin typeface="Aptos"/>
              </a:defRPr>
            </a:pPr>
            <a:r>
              <a:t>5. Call merge() to join both halves.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417320"/>
            <a:ext cx="5166360" cy="4251960"/>
          </a:xfrm>
          <a:prstGeom prst="roundRect">
            <a:avLst/>
          </a:prstGeom>
          <a:solidFill>
            <a:srgbClr val="EBF8F1"/>
          </a:solidFill>
          <a:ln>
            <a:solidFill>
              <a:srgbClr val="E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17320"/>
            <a:ext cx="82296" cy="4251960"/>
          </a:xfrm>
          <a:prstGeom prst="rect">
            <a:avLst/>
          </a:prstGeom>
          <a:solidFill>
            <a:srgbClr val="43A67D"/>
          </a:solidFill>
          <a:ln>
            <a:solidFill>
              <a:srgbClr val="43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572768"/>
            <a:ext cx="478231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merge(arr, l, m, 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1984248"/>
            <a:ext cx="4782312" cy="355701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A3546"/>
                </a:solidFill>
                <a:latin typeface="Aptos"/>
              </a:defRPr>
            </a:pPr>
            <a:r>
              <a:t>1. Copy the two halves into temporary arrays L and R.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A3546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2A3546"/>
                </a:solidFill>
                <a:latin typeface="Aptos"/>
              </a:defRPr>
            </a:pPr>
            <a:r>
              <a:t>2. Compare the current values in L and R.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A3546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2A3546"/>
                </a:solidFill>
                <a:latin typeface="Aptos"/>
              </a:defRPr>
            </a:pPr>
            <a:r>
              <a:t>3. Copy the smaller value into the original array.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A3546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2A3546"/>
                </a:solidFill>
                <a:latin typeface="Aptos"/>
              </a:defRPr>
            </a:pPr>
            <a:r>
              <a:t>4. Copy any leftover values.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A3546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500" b="0">
                <a:solidFill>
                  <a:srgbClr val="2A3546"/>
                </a:solidFill>
                <a:latin typeface="Aptos"/>
              </a:defRPr>
            </a:pPr>
            <a:r>
              <a:t>5. Release temporary memory using free().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510528"/>
            <a:ext cx="54864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7778E"/>
                </a:solidFill>
                <a:latin typeface="Aptos"/>
              </a:defRPr>
            </a:pPr>
            <a:r>
              <a:t>MERGE SORT  •  DATA STRUCTURES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7778E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12346"/>
                </a:solidFill>
                <a:latin typeface="Aptos"/>
              </a:defRPr>
            </a:pPr>
            <a:r>
              <a:t>6. Understanding the C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346FD2"/>
                </a:solidFill>
                <a:latin typeface="Aptos"/>
              </a:defRPr>
            </a:pPr>
            <a:r>
              <a:t>What the important variables and functions mean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29184"/>
            <a:ext cx="411480" cy="365760"/>
          </a:xfrm>
          <a:prstGeom prst="roundRect">
            <a:avLst/>
          </a:prstGeom>
          <a:solidFill>
            <a:srgbClr val="346FD2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74904"/>
            <a:ext cx="411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7778E"/>
                </a:solidFill>
                <a:latin typeface="Aptos"/>
              </a:defRPr>
            </a:pPr>
            <a:r>
              <a:t>MERGE SORT  •  DATA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7778E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71600"/>
            <a:ext cx="3383280" cy="1417320"/>
          </a:xfrm>
          <a:prstGeom prst="roundRect">
            <a:avLst/>
          </a:prstGeom>
          <a:solidFill>
            <a:srgbClr val="F1F6FD"/>
          </a:solidFill>
          <a:ln>
            <a:solidFill>
              <a:srgbClr val="F1F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371600"/>
            <a:ext cx="82296" cy="1417320"/>
          </a:xfrm>
          <a:prstGeom prst="rect">
            <a:avLst/>
          </a:prstGeom>
          <a:solidFill>
            <a:srgbClr val="346FD2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1527048"/>
            <a:ext cx="299923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12346"/>
                </a:solidFill>
                <a:latin typeface="Aptos"/>
              </a:defRPr>
            </a:pPr>
            <a:r>
              <a:t>l, m, 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1938528"/>
            <a:ext cx="2999232" cy="72237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3546"/>
                </a:solidFill>
                <a:latin typeface="Aptos"/>
              </a:defRPr>
            </a:pPr>
            <a:r>
              <a:t>l = left index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A3546"/>
                </a:solidFill>
                <a:latin typeface="Aptos"/>
              </a:defRPr>
            </a:pPr>
            <a:r>
              <a:t>m = middle index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2A3546"/>
                </a:solidFill>
                <a:latin typeface="Aptos"/>
              </a:defRPr>
            </a:pPr>
            <a:r>
              <a:t>r = right index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71600"/>
            <a:ext cx="3383280" cy="1417320"/>
          </a:xfrm>
          <a:prstGeom prst="roundRect">
            <a:avLst/>
          </a:prstGeom>
          <a:solidFill>
            <a:srgbClr val="EBF8F1"/>
          </a:solidFill>
          <a:ln>
            <a:solidFill>
              <a:srgbClr val="E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71600"/>
            <a:ext cx="82296" cy="1417320"/>
          </a:xfrm>
          <a:prstGeom prst="rect">
            <a:avLst/>
          </a:prstGeom>
          <a:solidFill>
            <a:srgbClr val="43A67D"/>
          </a:solidFill>
          <a:ln>
            <a:solidFill>
              <a:srgbClr val="43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527048"/>
            <a:ext cx="299923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12346"/>
                </a:solidFill>
                <a:latin typeface="Aptos"/>
              </a:defRPr>
            </a:pPr>
            <a:r>
              <a:t>L and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1938528"/>
            <a:ext cx="2999232" cy="72237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3546"/>
                </a:solidFill>
                <a:latin typeface="Aptos"/>
              </a:defRPr>
            </a:pPr>
            <a:r>
              <a:t>Temporary arrays that hold the two halves during merging.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371600"/>
            <a:ext cx="3383280" cy="1417320"/>
          </a:xfrm>
          <a:prstGeom prst="roundRect">
            <a:avLst/>
          </a:prstGeom>
          <a:solidFill>
            <a:srgbClr val="FFF6E8"/>
          </a:solidFill>
          <a:ln>
            <a:solidFill>
              <a:srgbClr val="FFF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371600"/>
            <a:ext cx="82296" cy="1417320"/>
          </a:xfrm>
          <a:prstGeom prst="rect">
            <a:avLst/>
          </a:prstGeom>
          <a:solidFill>
            <a:srgbClr val="DD913F"/>
          </a:solidFill>
          <a:ln>
            <a:solidFill>
              <a:srgbClr val="DD9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527048"/>
            <a:ext cx="299923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12346"/>
                </a:solidFill>
                <a:latin typeface="Aptos"/>
              </a:defRPr>
            </a:pPr>
            <a:r>
              <a:t>i, j, 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1938528"/>
            <a:ext cx="2999232" cy="72237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3546"/>
                </a:solidFill>
                <a:latin typeface="Aptos"/>
              </a:defRPr>
            </a:pPr>
            <a:r>
              <a:t>i tracks L, j tracks R, and k tracks the original array.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246120"/>
            <a:ext cx="3383280" cy="1417320"/>
          </a:xfrm>
          <a:prstGeom prst="roundRect">
            <a:avLst/>
          </a:prstGeom>
          <a:solidFill>
            <a:srgbClr val="F1F6FD"/>
          </a:solidFill>
          <a:ln>
            <a:solidFill>
              <a:srgbClr val="F1F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3246120"/>
            <a:ext cx="82296" cy="1417320"/>
          </a:xfrm>
          <a:prstGeom prst="rect">
            <a:avLst/>
          </a:prstGeom>
          <a:solidFill>
            <a:srgbClr val="346FD2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" y="3401568"/>
            <a:ext cx="299923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12346"/>
                </a:solidFill>
                <a:latin typeface="Aptos"/>
              </a:defRPr>
            </a:pPr>
            <a:r>
              <a:t>malloc()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" y="3813048"/>
            <a:ext cx="2999232" cy="72237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3546"/>
                </a:solidFill>
                <a:latin typeface="Aptos"/>
              </a:defRPr>
            </a:pPr>
            <a:r>
              <a:t>Reserves memory for temporary arrays.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246120"/>
            <a:ext cx="3383280" cy="1417320"/>
          </a:xfrm>
          <a:prstGeom prst="roundRect">
            <a:avLst/>
          </a:prstGeom>
          <a:solidFill>
            <a:srgbClr val="EBF8F1"/>
          </a:solidFill>
          <a:ln>
            <a:solidFill>
              <a:srgbClr val="E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246120"/>
            <a:ext cx="82296" cy="1417320"/>
          </a:xfrm>
          <a:prstGeom prst="rect">
            <a:avLst/>
          </a:prstGeom>
          <a:solidFill>
            <a:srgbClr val="43A67D"/>
          </a:solidFill>
          <a:ln>
            <a:solidFill>
              <a:srgbClr val="43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8576" y="3401568"/>
            <a:ext cx="299923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12346"/>
                </a:solidFill>
                <a:latin typeface="Aptos"/>
              </a:defRPr>
            </a:pPr>
            <a:r>
              <a:t>free()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08576" y="3813048"/>
            <a:ext cx="2999232" cy="72237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3546"/>
                </a:solidFill>
                <a:latin typeface="Aptos"/>
              </a:defRPr>
            </a:pPr>
            <a:r>
              <a:t>Releases the temporary memory after merging.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3246120"/>
            <a:ext cx="3383280" cy="1417320"/>
          </a:xfrm>
          <a:prstGeom prst="roundRect">
            <a:avLst/>
          </a:prstGeom>
          <a:solidFill>
            <a:srgbClr val="FFF6E8"/>
          </a:solidFill>
          <a:ln>
            <a:solidFill>
              <a:srgbClr val="FFF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55279" y="3246120"/>
            <a:ext cx="82296" cy="1417320"/>
          </a:xfrm>
          <a:prstGeom prst="rect">
            <a:avLst/>
          </a:prstGeom>
          <a:solidFill>
            <a:srgbClr val="DD913F"/>
          </a:solidFill>
          <a:ln>
            <a:solidFill>
              <a:srgbClr val="DD9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74736" y="3401568"/>
            <a:ext cx="299923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12346"/>
                </a:solidFill>
                <a:latin typeface="Aptos"/>
              </a:defRPr>
            </a:pPr>
            <a:r>
              <a:t>main()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4736" y="3813048"/>
            <a:ext cx="2999232" cy="72237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3546"/>
                </a:solidFill>
                <a:latin typeface="Aptos"/>
              </a:defRPr>
            </a:pPr>
            <a:r>
              <a:t>Reads input, calls mergeSort(), and prints the result.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257800"/>
            <a:ext cx="10332720" cy="5486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12346"/>
                </a:solidFill>
                <a:latin typeface="Aptos"/>
              </a:defRPr>
            </a:pPr>
            <a:r>
              <a:t>The condition l &lt; r prevents endless recursion. When l == r, that part has one element.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510528"/>
            <a:ext cx="54864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7778E"/>
                </a:solidFill>
                <a:latin typeface="Aptos"/>
              </a:defRPr>
            </a:pPr>
            <a:r>
              <a:t>MERGE SORT  •  DATA STRUCTURES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7778E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12346"/>
                </a:solidFill>
                <a:latin typeface="Aptos"/>
              </a:defRPr>
            </a:pPr>
            <a:r>
              <a:t>7. Sample Input and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346FD2"/>
                </a:solidFill>
                <a:latin typeface="Aptos"/>
              </a:defRPr>
            </a:pPr>
            <a:r>
              <a:t>Example from the practice question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29184"/>
            <a:ext cx="411480" cy="365760"/>
          </a:xfrm>
          <a:prstGeom prst="roundRect">
            <a:avLst/>
          </a:prstGeom>
          <a:solidFill>
            <a:srgbClr val="346FD2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74904"/>
            <a:ext cx="411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7778E"/>
                </a:solidFill>
                <a:latin typeface="Aptos"/>
              </a:defRPr>
            </a:pPr>
            <a:r>
              <a:t>MERGE SORT  •  DATA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7778E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600200"/>
            <a:ext cx="4389120" cy="2377440"/>
          </a:xfrm>
          <a:prstGeom prst="roundRect">
            <a:avLst/>
          </a:prstGeom>
          <a:solidFill>
            <a:srgbClr val="F1F6FD"/>
          </a:solidFill>
          <a:ln>
            <a:solidFill>
              <a:srgbClr val="F1F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600200"/>
            <a:ext cx="82296" cy="2377440"/>
          </a:xfrm>
          <a:prstGeom prst="rect">
            <a:avLst/>
          </a:prstGeom>
          <a:solidFill>
            <a:srgbClr val="346FD2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1755648"/>
            <a:ext cx="400507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2167128"/>
            <a:ext cx="4005072" cy="16824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2200" b="0">
                <a:solidFill>
                  <a:srgbClr val="2A3546"/>
                </a:solidFill>
                <a:latin typeface="Aptos"/>
              </a:defRPr>
            </a:pPr>
            <a:r>
              <a:t>5</a:t>
            </a:r>
          </a:p>
          <a:p>
            <a:pPr algn="l">
              <a:spcAft>
                <a:spcPts val="500"/>
              </a:spcAft>
              <a:defRPr sz="2200" b="0">
                <a:solidFill>
                  <a:srgbClr val="2A3546"/>
                </a:solidFill>
                <a:latin typeface="Aptos"/>
              </a:defRPr>
            </a:pPr>
            <a:r>
              <a:t>3 7 4 1 5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00200"/>
            <a:ext cx="4389120" cy="2377440"/>
          </a:xfrm>
          <a:prstGeom prst="roundRect">
            <a:avLst/>
          </a:prstGeom>
          <a:solidFill>
            <a:srgbClr val="EBF8F1"/>
          </a:solidFill>
          <a:ln>
            <a:solidFill>
              <a:srgbClr val="E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600200"/>
            <a:ext cx="82296" cy="2377440"/>
          </a:xfrm>
          <a:prstGeom prst="rect">
            <a:avLst/>
          </a:prstGeom>
          <a:solidFill>
            <a:srgbClr val="43A67D"/>
          </a:solidFill>
          <a:ln>
            <a:solidFill>
              <a:srgbClr val="43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0256" y="1755648"/>
            <a:ext cx="400507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167128"/>
            <a:ext cx="4005072" cy="168249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2200" b="0">
                <a:solidFill>
                  <a:srgbClr val="2A3546"/>
                </a:solidFill>
                <a:latin typeface="Aptos"/>
              </a:defRPr>
            </a:pPr>
            <a:r>
              <a:t>1 3 4 5 7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2A3546"/>
                </a:solidFill>
                <a:latin typeface="Aptos"/>
              </a:defRPr>
            </a:pPr>
            <a:r>
              <a:t>The numbers stay the same; only their order changes.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12080"/>
            <a:ext cx="1033272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67778E"/>
                </a:solidFill>
                <a:latin typeface="Aptos"/>
              </a:defRPr>
            </a:pPr>
            <a:r>
              <a:t>Non-decreasing order means each number is less than or equal to the next.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6510528"/>
            <a:ext cx="54864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7778E"/>
                </a:solidFill>
                <a:latin typeface="Aptos"/>
              </a:defRPr>
            </a:pPr>
            <a:r>
              <a:t>MERGE SORT  •  DATA STRUCTURES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7778E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12346"/>
                </a:solidFill>
                <a:latin typeface="Aptos"/>
              </a:defRPr>
            </a:pPr>
            <a:r>
              <a:t>8. Time and Space Complexity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346FD2"/>
                </a:solidFill>
                <a:latin typeface="Aptos"/>
              </a:defRPr>
            </a:pPr>
            <a:r>
              <a:t>Useful facts for your viva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29184"/>
            <a:ext cx="411480" cy="365760"/>
          </a:xfrm>
          <a:prstGeom prst="roundRect">
            <a:avLst/>
          </a:prstGeom>
          <a:solidFill>
            <a:srgbClr val="346FD2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74904"/>
            <a:ext cx="411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7778E"/>
                </a:solidFill>
                <a:latin typeface="Aptos"/>
              </a:defRPr>
            </a:pPr>
            <a:r>
              <a:t>MERGE SORT  •  DATA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7778E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3383280" cy="1600200"/>
          </a:xfrm>
          <a:prstGeom prst="roundRect">
            <a:avLst/>
          </a:prstGeom>
          <a:solidFill>
            <a:srgbClr val="F1F6FD"/>
          </a:solidFill>
          <a:ln>
            <a:solidFill>
              <a:srgbClr val="F1F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1554480"/>
            <a:ext cx="82296" cy="1600200"/>
          </a:xfrm>
          <a:prstGeom prst="rect">
            <a:avLst/>
          </a:prstGeom>
          <a:solidFill>
            <a:srgbClr val="346FD2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1709928"/>
            <a:ext cx="299923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Best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2121408"/>
            <a:ext cx="2999232" cy="9052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2200" b="0">
                <a:solidFill>
                  <a:srgbClr val="2A3546"/>
                </a:solidFill>
                <a:latin typeface="Aptos"/>
              </a:defRPr>
            </a:pPr>
            <a:r>
              <a:t>O(n log 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383280" cy="1600200"/>
          </a:xfrm>
          <a:prstGeom prst="roundRect">
            <a:avLst/>
          </a:prstGeom>
          <a:solidFill>
            <a:srgbClr val="EBF8F1"/>
          </a:solidFill>
          <a:ln>
            <a:solidFill>
              <a:srgbClr val="E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82296" cy="1600200"/>
          </a:xfrm>
          <a:prstGeom prst="rect">
            <a:avLst/>
          </a:prstGeom>
          <a:solidFill>
            <a:srgbClr val="43A67D"/>
          </a:solidFill>
          <a:ln>
            <a:solidFill>
              <a:srgbClr val="43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709928"/>
            <a:ext cx="299923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Average 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121408"/>
            <a:ext cx="2999232" cy="9052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2200" b="0">
                <a:solidFill>
                  <a:srgbClr val="2A3546"/>
                </a:solidFill>
                <a:latin typeface="Aptos"/>
              </a:defRPr>
            </a:pPr>
            <a:r>
              <a:t>O(n log 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554480"/>
            <a:ext cx="3383280" cy="1600200"/>
          </a:xfrm>
          <a:prstGeom prst="roundRect">
            <a:avLst/>
          </a:prstGeom>
          <a:solidFill>
            <a:srgbClr val="FFF6E8"/>
          </a:solidFill>
          <a:ln>
            <a:solidFill>
              <a:srgbClr val="FFF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554480"/>
            <a:ext cx="82296" cy="1600200"/>
          </a:xfrm>
          <a:prstGeom prst="rect">
            <a:avLst/>
          </a:prstGeom>
          <a:solidFill>
            <a:srgbClr val="DD913F"/>
          </a:solidFill>
          <a:ln>
            <a:solidFill>
              <a:srgbClr val="DD9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4736" y="1709928"/>
            <a:ext cx="299923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800" b="1">
                <a:solidFill>
                  <a:srgbClr val="112346"/>
                </a:solidFill>
                <a:latin typeface="Aptos"/>
              </a:defRPr>
            </a:pPr>
            <a:r>
              <a:t>Worst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4736" y="2121408"/>
            <a:ext cx="2999232" cy="90525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2200" b="0">
                <a:solidFill>
                  <a:srgbClr val="2A3546"/>
                </a:solidFill>
                <a:latin typeface="Aptos"/>
              </a:defRPr>
            </a:pPr>
            <a:r>
              <a:t>O(n log n)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3749039"/>
            <a:ext cx="3474720" cy="1508760"/>
          </a:xfrm>
          <a:prstGeom prst="roundRect">
            <a:avLst/>
          </a:prstGeom>
          <a:solidFill>
            <a:srgbClr val="F1F6FD"/>
          </a:solidFill>
          <a:ln>
            <a:solidFill>
              <a:srgbClr val="F1F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94560" y="3749039"/>
            <a:ext cx="82296" cy="1508760"/>
          </a:xfrm>
          <a:prstGeom prst="rect">
            <a:avLst/>
          </a:prstGeom>
          <a:solidFill>
            <a:srgbClr val="346FD2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14015" y="3904487"/>
            <a:ext cx="309067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12346"/>
                </a:solidFill>
                <a:latin typeface="Aptos"/>
              </a:defRPr>
            </a:pPr>
            <a:r>
              <a:t>Extra space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14015" y="4315968"/>
            <a:ext cx="3090672" cy="81381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3546"/>
                </a:solidFill>
                <a:latin typeface="Aptos"/>
              </a:defRPr>
            </a:pPr>
            <a:r>
              <a:t>O(n), because temporary arrays are used.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749039"/>
            <a:ext cx="3474720" cy="1508760"/>
          </a:xfrm>
          <a:prstGeom prst="roundRect">
            <a:avLst/>
          </a:prstGeom>
          <a:solidFill>
            <a:srgbClr val="EBF8F1"/>
          </a:solidFill>
          <a:ln>
            <a:solidFill>
              <a:srgbClr val="E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3749039"/>
            <a:ext cx="82296" cy="1508760"/>
          </a:xfrm>
          <a:prstGeom prst="rect">
            <a:avLst/>
          </a:prstGeom>
          <a:solidFill>
            <a:srgbClr val="43A67D"/>
          </a:solidFill>
          <a:ln>
            <a:solidFill>
              <a:srgbClr val="43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11696" y="3904487"/>
            <a:ext cx="309067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12346"/>
                </a:solidFill>
                <a:latin typeface="Aptos"/>
              </a:defRPr>
            </a:pPr>
            <a:r>
              <a:t>Stable sort?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11696" y="4315968"/>
            <a:ext cx="3090672" cy="813815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2A3546"/>
                </a:solidFill>
                <a:latin typeface="Aptos"/>
              </a:defRPr>
            </a:pPr>
            <a:r>
              <a:t>Yes. Equal values keep their relative order.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67778E"/>
                </a:solidFill>
                <a:latin typeface="Aptos"/>
              </a:defRPr>
            </a:pPr>
            <a:r>
              <a:t>Why O(n log n)? About log n levels of splitting, with n elements processed at each level.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510528"/>
            <a:ext cx="54864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7778E"/>
                </a:solidFill>
                <a:latin typeface="Aptos"/>
              </a:defRPr>
            </a:pPr>
            <a:r>
              <a:t>MERGE SORT  •  DATA STRUCTURES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7778E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112346"/>
                </a:solidFill>
                <a:latin typeface="Aptos"/>
              </a:defRPr>
            </a:pPr>
            <a:r>
              <a:t>9. Advantages and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346FD2"/>
                </a:solidFill>
                <a:latin typeface="Aptos"/>
              </a:defRPr>
            </a:pPr>
            <a:r>
              <a:t>Every algorithm has trade-offs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29184"/>
            <a:ext cx="411480" cy="365760"/>
          </a:xfrm>
          <a:prstGeom prst="roundRect">
            <a:avLst/>
          </a:prstGeom>
          <a:solidFill>
            <a:srgbClr val="346FD2"/>
          </a:solidFill>
          <a:ln>
            <a:solidFill>
              <a:srgbClr val="346F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74904"/>
            <a:ext cx="411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7778E"/>
                </a:solidFill>
                <a:latin typeface="Aptos"/>
              </a:defRPr>
            </a:pPr>
            <a:r>
              <a:t>MERGE SORT  •  DATA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7778E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508760"/>
            <a:ext cx="5029200" cy="3931920"/>
          </a:xfrm>
          <a:prstGeom prst="roundRect">
            <a:avLst/>
          </a:prstGeom>
          <a:solidFill>
            <a:srgbClr val="EBF8F1"/>
          </a:solidFill>
          <a:ln>
            <a:solidFill>
              <a:srgbClr val="EB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1508760"/>
            <a:ext cx="82296" cy="3931920"/>
          </a:xfrm>
          <a:prstGeom prst="rect">
            <a:avLst/>
          </a:prstGeom>
          <a:solidFill>
            <a:srgbClr val="43A67D"/>
          </a:solidFill>
          <a:ln>
            <a:solidFill>
              <a:srgbClr val="43A6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" y="1664207"/>
            <a:ext cx="464515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12346"/>
                </a:solidFill>
                <a:latin typeface="Aptos"/>
              </a:defRPr>
            </a:pPr>
            <a:r>
              <a:t>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" y="2075688"/>
            <a:ext cx="4645152" cy="323697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A3546"/>
                </a:solidFill>
                <a:latin typeface="Aptos"/>
              </a:defRPr>
            </a:pPr>
            <a:r>
              <a:t>• Predictable O(n log n) time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A3546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700" b="0">
                <a:solidFill>
                  <a:srgbClr val="2A3546"/>
                </a:solidFill>
                <a:latin typeface="Aptos"/>
              </a:defRPr>
            </a:pPr>
            <a:r>
              <a:t>• Stable sorting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A3546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700" b="0">
                <a:solidFill>
                  <a:srgbClr val="2A3546"/>
                </a:solidFill>
                <a:latin typeface="Aptos"/>
              </a:defRPr>
            </a:pPr>
            <a:r>
              <a:t>• Good for large datasets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A3546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700" b="0">
                <a:solidFill>
                  <a:srgbClr val="2A3546"/>
                </a:solidFill>
                <a:latin typeface="Aptos"/>
              </a:defRPr>
            </a:pPr>
            <a:r>
              <a:t>• Works well when consistent performance matters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08760"/>
            <a:ext cx="5029200" cy="3931920"/>
          </a:xfrm>
          <a:prstGeom prst="roundRect">
            <a:avLst/>
          </a:prstGeom>
          <a:solidFill>
            <a:srgbClr val="FFF6E8"/>
          </a:solidFill>
          <a:ln>
            <a:solidFill>
              <a:srgbClr val="FFF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508760"/>
            <a:ext cx="82296" cy="3931920"/>
          </a:xfrm>
          <a:prstGeom prst="rect">
            <a:avLst/>
          </a:prstGeom>
          <a:solidFill>
            <a:srgbClr val="DD913F"/>
          </a:solidFill>
          <a:ln>
            <a:solidFill>
              <a:srgbClr val="DD91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1664207"/>
            <a:ext cx="4645152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900" b="1">
                <a:solidFill>
                  <a:srgbClr val="112346"/>
                </a:solidFill>
                <a:latin typeface="Aptos"/>
              </a:defRPr>
            </a:pPr>
            <a:r>
              <a:t>Limitations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075688"/>
            <a:ext cx="4645152" cy="3236976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2A3546"/>
                </a:solidFill>
                <a:latin typeface="Aptos"/>
              </a:defRPr>
            </a:pPr>
            <a:r>
              <a:t>• Needs extra memory O(n)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A3546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700" b="0">
                <a:solidFill>
                  <a:srgbClr val="2A3546"/>
                </a:solidFill>
                <a:latin typeface="Aptos"/>
              </a:defRPr>
            </a:pPr>
            <a:r>
              <a:t>• Temporary arrays must be allocated</a:t>
            </a:r>
          </a:p>
          <a:p>
            <a:pPr algn="l">
              <a:spcAft>
                <a:spcPts val="500"/>
              </a:spcAft>
              <a:defRPr sz="1700" b="0">
                <a:solidFill>
                  <a:srgbClr val="2A3546"/>
                </a:solidFill>
                <a:latin typeface="Aptos"/>
              </a:defRPr>
            </a:pPr>
          </a:p>
          <a:p>
            <a:pPr algn="l">
              <a:spcAft>
                <a:spcPts val="500"/>
              </a:spcAft>
              <a:defRPr sz="1700" b="0">
                <a:solidFill>
                  <a:srgbClr val="2A3546"/>
                </a:solidFill>
                <a:latin typeface="Aptos"/>
              </a:defRPr>
            </a:pPr>
            <a:r>
              <a:t>• Recursive calls add some overhead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510528"/>
            <a:ext cx="54864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67778E"/>
                </a:solidFill>
                <a:latin typeface="Aptos"/>
              </a:defRPr>
            </a:pPr>
            <a:r>
              <a:t>MERGE SORT  •  DATA STRUCTURES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67778E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3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50292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10. Quick Revision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1078992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45C2D3"/>
                </a:solidFill>
                <a:latin typeface="Aptos"/>
              </a:defRPr>
            </a:pPr>
            <a:r>
              <a:t>Five points to remember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29184"/>
            <a:ext cx="411480" cy="365760"/>
          </a:xfrm>
          <a:prstGeom prst="roundRect">
            <a:avLst/>
          </a:prstGeom>
          <a:solidFill>
            <a:srgbClr val="45C2D3"/>
          </a:solidFill>
          <a:ln>
            <a:solidFill>
              <a:srgbClr val="45C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01400" y="374904"/>
            <a:ext cx="41148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12346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54864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BECDE2"/>
                </a:solidFill>
                <a:latin typeface="Aptos"/>
              </a:defRPr>
            </a:pPr>
            <a:r>
              <a:t>MERGE SORT  •  DATA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BECDE2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417320"/>
            <a:ext cx="594360" cy="502920"/>
          </a:xfrm>
          <a:prstGeom prst="roundRect">
            <a:avLst/>
          </a:prstGeom>
          <a:solidFill>
            <a:srgbClr val="45C2D3"/>
          </a:solidFill>
          <a:ln>
            <a:solidFill>
              <a:srgbClr val="45C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27048"/>
            <a:ext cx="5943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12346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490472"/>
            <a:ext cx="93268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Merge Sort uses Divide and Conquer.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221992"/>
            <a:ext cx="594360" cy="502920"/>
          </a:xfrm>
          <a:prstGeom prst="roundRect">
            <a:avLst/>
          </a:prstGeom>
          <a:solidFill>
            <a:srgbClr val="45C2D3"/>
          </a:solidFill>
          <a:ln>
            <a:solidFill>
              <a:srgbClr val="45C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331720"/>
            <a:ext cx="5943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1234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295144"/>
            <a:ext cx="93268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mergeSort() divides the array recursively.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3026664"/>
            <a:ext cx="594360" cy="502920"/>
          </a:xfrm>
          <a:prstGeom prst="roundRect">
            <a:avLst/>
          </a:prstGeom>
          <a:solidFill>
            <a:srgbClr val="45C2D3"/>
          </a:solidFill>
          <a:ln>
            <a:solidFill>
              <a:srgbClr val="45C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136392"/>
            <a:ext cx="5943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1234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3099816"/>
            <a:ext cx="93268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merge() joins two sorted subarrays.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3831336"/>
            <a:ext cx="594360" cy="502920"/>
          </a:xfrm>
          <a:prstGeom prst="roundRect">
            <a:avLst/>
          </a:prstGeom>
          <a:solidFill>
            <a:srgbClr val="45C2D3"/>
          </a:solidFill>
          <a:ln>
            <a:solidFill>
              <a:srgbClr val="45C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41064"/>
            <a:ext cx="5943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1234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3904488"/>
            <a:ext cx="93268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Time complexity is O(n log n) in all cases.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" y="4636008"/>
            <a:ext cx="594360" cy="502920"/>
          </a:xfrm>
          <a:prstGeom prst="roundRect">
            <a:avLst/>
          </a:prstGeom>
          <a:solidFill>
            <a:srgbClr val="45C2D3"/>
          </a:solidFill>
          <a:ln>
            <a:solidFill>
              <a:srgbClr val="45C2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745736"/>
            <a:ext cx="594360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1234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83080" y="4709160"/>
            <a:ext cx="9326880" cy="36576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1800" b="0">
                <a:solidFill>
                  <a:srgbClr val="FFFFFF"/>
                </a:solidFill>
                <a:latin typeface="Aptos"/>
              </a:defRPr>
            </a:pPr>
            <a:r>
              <a:t>Extra space is O(n), and Merge Sort is stable.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715000"/>
            <a:ext cx="1051560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500"/>
              </a:spcAft>
              <a:defRPr sz="2500" b="1">
                <a:solidFill>
                  <a:srgbClr val="45C2D3"/>
                </a:solidFill>
                <a:latin typeface="Aptos"/>
              </a:defRPr>
            </a:pPr>
            <a:r>
              <a:t>Thank you!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510528"/>
            <a:ext cx="5486400" cy="164592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BECDE2"/>
                </a:solidFill>
                <a:latin typeface="Aptos"/>
              </a:defRPr>
            </a:pPr>
            <a:r>
              <a:t>MERGE SORT  •  DATA STRUCTURES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BECDE2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4144</Words>
  <Application>WPS Presentation</Application>
  <PresentationFormat>On-screen Show (4:3)</PresentationFormat>
  <Paragraphs>407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Arial</vt:lpstr>
      <vt:lpstr>Aptos</vt:lpstr>
      <vt:lpstr>Segoe UI</vt:lpstr>
      <vt:lpstr>Aptos Display</vt:lpstr>
      <vt:lpstr>Calibri</vt:lpstr>
      <vt:lpstr>Segoe UI Variable Display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vardh</cp:lastModifiedBy>
  <cp:revision>2</cp:revision>
  <dcterms:created xsi:type="dcterms:W3CDTF">2013-01-27T09:14:00Z</dcterms:created>
  <dcterms:modified xsi:type="dcterms:W3CDTF">2026-10-14T18:14:15Z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24C125718ACE4F9F92457CF67676E701_13</vt:lpwstr>
  </property>
  <property fmtid="{D5CDD505-2E9C-101B-9397-08002B2CF9AE}" pid="3" name="KSOProductBuildVer">
    <vt:lpwstr>1033-12.1.0.28485</vt:lpwstr>
  </property>
</Properties>
</file>